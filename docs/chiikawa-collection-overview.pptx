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417320"/>
            <a:ext cx="274320" cy="274320"/>
          </a:xfrm>
          <a:prstGeom prst="ellipse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35607" y="1417320"/>
            <a:ext cx="274320" cy="274320"/>
          </a:xfrm>
          <a:prstGeom prst="ellipse">
            <a:avLst/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19655" y="1417320"/>
            <a:ext cx="274320" cy="274320"/>
          </a:xfrm>
          <a:prstGeom prst="ellipse">
            <a:avLst/>
          </a:prstGeom>
          <a:solidFill>
            <a:srgbClr val="E8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44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ご当地ちいかわコレクション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アプリ説明資料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5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「ご当地ちいかわ ダイカットキーホルダー」の所持状況を家族で共有・管理する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サーバーレス Web アプリケーション（AWS / Next.js / Bedrock）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5074920"/>
            <a:ext cx="2926080" cy="18288"/>
          </a:xfrm>
          <a:prstGeom prst="rect">
            <a:avLst/>
          </a:prstGeom>
          <a:solidFill>
            <a:srgbClr val="E6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92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リポジトリ: ShoIwase/chiikawa-collection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公開URL: https://chiikawa.bar504.net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このアプリは何をするもの？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課題 → 解決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94376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47472" rIns="347472" tIns="310896"/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7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😖  困っていたこと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・ご当地キーホルダーは全国で数百種類あり、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・どれを持っているか把握できない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・家族それぞれが買うので店頭でダブる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・新商品がいつ増えたのか分からない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600200"/>
            <a:ext cx="5294376" cy="3246120"/>
          </a:xfrm>
          <a:prstGeom prst="roundRect">
            <a:avLst>
              <a:gd name="adj" fmla="val 8000"/>
            </a:avLst>
          </a:prstGeom>
          <a:solidFill>
            <a:srgbClr val="FDECF1"/>
          </a:solidFill>
          <a:ln w="15875">
            <a:solidFill>
              <a:srgbClr val="E0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47472" rIns="347472" tIns="310896"/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7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✨  このアプリでできること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・販売サイトを毎週自動巡回し、新商品を取り込む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・商品画像を AI が解析してキャラ・地域を自動判定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・所持／未所持を家族で共有（1つのコレクション）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・手持ちの実物を写真に撮るだけで一括登録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206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利用者は家族のみ。ユーザー名 family の共有アカウント（パスワードのみ入力）でログインし、所持状況は FamilyID 1つに集約される。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主な機能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6つの柱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3495751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/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🕘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自動収集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毎週月曜 9:00 JST に販売サイトを巡回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対象はキーホルダーのみ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5287" y="1572768"/>
            <a:ext cx="3495751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/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🤖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画像からキャラ判定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商品画像を Bedrock が解析し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1商品＝最大3エントリに分割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4774" y="1572768"/>
            <a:ext cx="3495751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/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🗾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地域の判定と集約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「○○限定」から地域を抽出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市区町村は親の都道府県に集約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13048"/>
            <a:ext cx="3495751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/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📷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写真スキャン一括登録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手持ちの実物を撮影すると AI が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認識し、まとめて所持に反映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5287" y="3813048"/>
            <a:ext cx="3495751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/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✅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所持管理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タップは未保存の変更として溜まり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保存ボタンでまとめて確定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4774" y="3813048"/>
            <a:ext cx="3495751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/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📊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フィルタ・集計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都道府県→市区町村の2段フィルタ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キャラ別・県別の所持率を集計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画面構成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Next.js 15 / 静的サイト（App Router）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108356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/>
          <a:lstStyle/>
          <a:p>
            <a:pPr algn="l"/>
            <a:r>
              <a:rPr sz="15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ログイン  </a:t>
            </a:r>
            <a:r>
              <a:rPr sz="1150" b="1">
                <a:solidFill>
                  <a:srgbClr val="E07C99"/>
                </a:solidFill>
                <a:latin typeface="Menlo"/>
                <a:ea typeface="Menlo"/>
                <a:cs typeface="Menlo"/>
              </a:rPr>
              <a:t>/login/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共有パスワードのみ入力（ユーザー名は family 固定）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109728" cy="786384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487168"/>
            <a:ext cx="108356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/>
          <a:lstStyle/>
          <a:p>
            <a:pPr algn="l"/>
            <a:r>
              <a:rPr sz="15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コレクション一覧  </a:t>
            </a:r>
            <a:r>
              <a:rPr sz="1150" b="1">
                <a:solidFill>
                  <a:srgbClr val="E07C99"/>
                </a:solidFill>
                <a:latin typeface="Menlo"/>
                <a:ea typeface="Menlo"/>
                <a:cs typeface="Menlo"/>
              </a:rPr>
              <a:t>/collection/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メイン画面。タップで所持切替 → 保存でまとめて確定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109728" cy="786384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401568"/>
            <a:ext cx="108356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/>
          <a:lstStyle/>
          <a:p>
            <a:pPr algn="l"/>
            <a:r>
              <a:rPr sz="15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未確認レビュー  </a:t>
            </a:r>
            <a:r>
              <a:rPr sz="1150" b="1">
                <a:solidFill>
                  <a:srgbClr val="6EA8D8"/>
                </a:solidFill>
                <a:latin typeface="Menlo"/>
                <a:ea typeface="Menlo"/>
                <a:cs typeface="Menlo"/>
              </a:rPr>
              <a:t>/verify/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スクレイパーが追加した新着を人が確認・修正して確定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401568"/>
            <a:ext cx="109728" cy="786384"/>
          </a:xfrm>
          <a:prstGeom prst="rect">
            <a:avLst/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4315968"/>
            <a:ext cx="108356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/>
          <a:lstStyle/>
          <a:p>
            <a:pPr algn="l"/>
            <a:r>
              <a:rPr sz="15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集計  </a:t>
            </a:r>
            <a:r>
              <a:rPr sz="1150" b="1">
                <a:solidFill>
                  <a:srgbClr val="E8B94B"/>
                </a:solidFill>
                <a:latin typeface="Menlo"/>
                <a:ea typeface="Menlo"/>
                <a:cs typeface="Menlo"/>
              </a:rPr>
              <a:t>/stats/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キャラ別・都道府県別の所持率などを表示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315968"/>
            <a:ext cx="109728" cy="786384"/>
          </a:xfrm>
          <a:prstGeom prst="rect">
            <a:avLst/>
          </a:prstGeom>
          <a:solidFill>
            <a:srgbClr val="E8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コレクション一覧の詳細：折りたたみ式フィルターパネル（都道府県→市区町村／キャラ複数選択／タグ／❤️欲しい・⭐お気に入り・未所持のみ）、並べ替え（名前・地域・キャラ・所持優先）、テキスト検索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未保存のタップは琥珀色のリングで表示され、画面下部の「保存」で PUT /items/{name}/status を確定する。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システム構成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すべて AWS サーバーレス（ap-northeast-1）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DECF1"/>
          </a:solidFill>
          <a:ln w="15875">
            <a:solidFill>
              <a:srgbClr val="E0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ブラウザ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chiikawa.bar504.net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6002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CloudFront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+ S3 静的/画像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78892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API Gateway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HTTP API / JWT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3977639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Cognito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共有アカウント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572768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λ  chiikawa-api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Java 21 / SnapStart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60604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λ  chiikawa-scanner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Python 3.12 / POST /scan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639312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B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λ  chiikawa-scraper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Python 3.12 / 毎週月9:00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7830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DF8F2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DynamoDB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ChiikawaMaster / UserCollection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971800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FDF8F2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S3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商品画像 / 静的ファイル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3977639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FDECF1"/>
          </a:solidFill>
          <a:ln w="15875">
            <a:solidFill>
              <a:srgbClr val="E0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Amazon Bedrock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Claude Haiku / Sonnet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42032" y="1847088"/>
            <a:ext cx="365760" cy="365760"/>
          </a:xfrm>
          <a:prstGeom prst="rightArrow">
            <a:avLst/>
          </a:prstGeom>
          <a:solidFill>
            <a:srgbClr val="E6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2542032" y="3035808"/>
            <a:ext cx="365760" cy="365760"/>
          </a:xfrm>
          <a:prstGeom prst="rightArrow">
            <a:avLst/>
          </a:prstGeom>
          <a:solidFill>
            <a:srgbClr val="E6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2542032" y="4160520"/>
            <a:ext cx="365760" cy="365760"/>
          </a:xfrm>
          <a:prstGeom prst="rightArrow">
            <a:avLst/>
          </a:prstGeom>
          <a:solidFill>
            <a:srgbClr val="E6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4892040" y="3035808"/>
            <a:ext cx="384048" cy="365760"/>
          </a:xfrm>
          <a:prstGeom prst="rightArrow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165592" y="1828800"/>
            <a:ext cx="402336" cy="365760"/>
          </a:xfrm>
          <a:prstGeom prst="rightArrow">
            <a:avLst/>
          </a:prstGeom>
          <a:solidFill>
            <a:srgbClr val="E6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8165592" y="2852928"/>
            <a:ext cx="402336" cy="365760"/>
          </a:xfrm>
          <a:prstGeom prst="rightArrow">
            <a:avLst/>
          </a:prstGeom>
          <a:solidFill>
            <a:srgbClr val="E6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165592" y="3886200"/>
            <a:ext cx="402336" cy="365760"/>
          </a:xfrm>
          <a:prstGeom prst="rightArrow">
            <a:avLst/>
          </a:prstGeom>
          <a:solidFill>
            <a:srgbClr val="E6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49240" y="4754880"/>
            <a:ext cx="27432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EventBridge  cron(0 0 ? * MON *) → 毎週月 9:00 JST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IaC は二層構成：Terraform が基盤（DynamoDB / S3 / CloudFront / Route53 / Cognito App Client / SSM）、SAM が Lambda・API Gateway・スケジュールを管理する。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技術スタック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レイヤ別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36192"/>
            <a:ext cx="1083564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550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フロントエンド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655064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Next.js 15 (App Router) / React 19 / TypeScript / Tailwind CSS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20824"/>
            <a:ext cx="10835640" cy="484632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3969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認証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39696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Amazon Cognito（AWS Amplify・SRP認証。Hosted UI は使わない）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05456"/>
            <a:ext cx="1083564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243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24328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Java 21 Lambda（SnapStart）+ API Gateway HTTP API（Cognito JWT オーソライザ）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90088"/>
            <a:ext cx="10835640" cy="484632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スクレイパー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10896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Python 3.12 Lambda + BeautifulSoup + Pillow + Amazon Bedrock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1083564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935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写真スキャン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9359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Python 3.12 Lambda + Amazon Bedrock（Claude Sonnet 4.5）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959352"/>
            <a:ext cx="10835640" cy="484632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782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データ / 配信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078224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DynamoDB 2テーブル / S3 2バケット / CloudFront（OAC）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443984"/>
            <a:ext cx="1083564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5628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IaC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562856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Terraform（基盤）+ AWS SAM（Lambda・API・スケジュール）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928616"/>
            <a:ext cx="10835640" cy="484632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474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CI/CD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047488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GitHub Actions（パス別に3ワークフロー・OIDC ロール引受）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413248"/>
            <a:ext cx="1083564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32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テスト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53212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pytest（scraper / scanner）・JUnit（API）・Playwright（フロント e2e）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自動収集の流れ（chiikawa-scraper）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EventBridge が毎週月曜 9:00 JST に起動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1859889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01168"/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4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巡回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jp-api.com の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ご当地ちいかわ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6ページを巡回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(Shift-JIS)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18841" y="2651760"/>
            <a:ext cx="265176" cy="310896"/>
          </a:xfrm>
          <a:prstGeom prst="rightArrow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60643" y="1572768"/>
            <a:ext cx="1859889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01168"/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4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絞り込み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「ダイカット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キーホルダー」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のみ対象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他の品目は除外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93684" y="2651760"/>
            <a:ext cx="265176" cy="310896"/>
          </a:xfrm>
          <a:prstGeom prst="rightArrow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35486" y="1572768"/>
            <a:ext cx="1859889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01168"/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4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画像を3分割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1画像に3キャラ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→列ごとに切出し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左=ちいかわ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中=ハチワレ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右=うさぎ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68527" y="2651760"/>
            <a:ext cx="265176" cy="310896"/>
          </a:xfrm>
          <a:prstGeom prst="rightArrow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10329" y="1572768"/>
            <a:ext cx="1859889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01168"/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4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AI 解析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Bedrock に1回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問い合わせ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キャラ・地域・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種別を取得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Claude Haiku 4.5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43370" y="2651760"/>
            <a:ext cx="265176" cy="310896"/>
          </a:xfrm>
          <a:prstGeom prst="rightArrow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5172" y="1572768"/>
            <a:ext cx="1859889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01168"/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4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登録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S3 に画像保存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DynamoDB に登録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IsVerified=false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タグを自動付与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10835640" cy="1481328"/>
          </a:xfrm>
          <a:prstGeom prst="roundRect">
            <a:avLst>
              <a:gd name="adj" fmla="val 8000"/>
            </a:avLst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56032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設計上のポイント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・命名規約：{キャラ}　{地域 モチーフ}　ダイカットキーホルダー（全角スペース区切り・キャラ先頭）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・同名で地域違いの商品（みかん＝静岡／和歌山／愛媛 など）は地域名で一意化する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・再実行時は SourceImageId で商品単位にスキップ。手動で編集したタグは上書きされず保全される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写真スキャンで一括登録（chiikawa-scanner）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コレクション画面の「📷 スキャン」→ POST /scan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47573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撮影 / 写真選択</a:t>
            </a:r>
          </a:p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ScanModal.tsx</a:t>
            </a:r>
          </a:p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長辺 1600px にリサイズ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98114" y="2121408"/>
            <a:ext cx="237744" cy="274320"/>
          </a:xfrm>
          <a:prstGeom prst="rightArrow">
            <a:avLst/>
          </a:prstGeom>
          <a:solidFill>
            <a:srgbClr val="E6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2434" y="1645920"/>
            <a:ext cx="247573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Bedrock で抽出</a:t>
            </a:r>
          </a:p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Claude Sonnet 4.5</a:t>
            </a:r>
          </a:p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{character, area, motif} の</a:t>
            </a:r>
          </a:p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構造化JSON配列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84748" y="2121408"/>
            <a:ext cx="237744" cy="274320"/>
          </a:xfrm>
          <a:prstGeom prst="rightArrow">
            <a:avLst/>
          </a:prstGeom>
          <a:solidFill>
            <a:srgbClr val="E6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9068" y="1645920"/>
            <a:ext cx="247573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B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DB と照合</a:t>
            </a:r>
          </a:p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matcher.py</a:t>
            </a:r>
          </a:p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AWS非依存の純粋関数群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71382" y="2121408"/>
            <a:ext cx="237744" cy="274320"/>
          </a:xfrm>
          <a:prstGeom prst="rightArrow">
            <a:avLst/>
          </a:prstGeom>
          <a:solidFill>
            <a:srgbClr val="E6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45702" y="1645920"/>
            <a:ext cx="247573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候補を提示 → 反映</a:t>
            </a:r>
          </a:p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確度別に表示し</a:t>
            </a:r>
          </a:p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チェックして所持に登録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27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照合スコアと確度（confidence）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1234440" cy="402336"/>
          </a:xfrm>
          <a:prstGeom prst="roundRect">
            <a:avLst>
              <a:gd name="adj" fmla="val 8000"/>
            </a:avLst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exact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37033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モチーフが商品名コアに完全包含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42232"/>
            <a:ext cx="1234440" cy="402336"/>
          </a:xfrm>
          <a:prstGeom prst="roundRect">
            <a:avLst>
              <a:gd name="adj" fmla="val 8000"/>
            </a:avLst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423367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文字bigramのDice係数で近い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72584"/>
            <a:ext cx="1234440" cy="402336"/>
          </a:xfrm>
          <a:prstGeom prst="roundRect">
            <a:avLst>
              <a:gd name="adj" fmla="val 8000"/>
            </a:avLst>
          </a:prstGeom>
          <a:solidFill>
            <a:srgbClr val="E8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1" y="476402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地域しか特定できない → その地域の全商品を候補に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30368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area グループはフロントで折りたたみ・初期チェック外。地域だけの推測で誤登録しないようにしている。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926080"/>
            <a:ext cx="5120640" cy="3154680"/>
          </a:xfrm>
          <a:prstGeom prst="roundRect">
            <a:avLst>
              <a:gd name="adj" fmla="val 8000"/>
            </a:avLst>
          </a:prstGeom>
          <a:solidFill>
            <a:srgbClr val="FDF8F2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9184" rIns="329184" tIns="274320"/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⚠️  過去に踏んだ落とし穴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・maxTokens=500 だと打ち切られ JSON が閉じず全件ロスト → 2000 に引き上げ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・「東京都」から部分一致で「京都」が誤マッチ → 左から最長一致で抽出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・「大阪城」など地名とモチーフが不可分 → area を空に、motif に名称全体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・capture="environment" が1本だとカメラ強制起動 → input を2本に分離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データモデル（DynamoDB）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2テーブル構成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67665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74320"/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ChiikawaMaster（商品マスタ）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PK = Category（固定値 "KeyChain"） /  SK = ItemName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1">
                <a:solidFill>
                  <a:srgbClr val="3A3538"/>
                </a:solidFill>
                <a:latin typeface="Menlo"/>
                <a:ea typeface="Menlo"/>
                <a:cs typeface="Menlo"/>
              </a:rPr>
              <a:t>ItemName  </a:t>
            </a: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うさぎ　静岡 みかん　ダイカットキーホルダー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1">
                <a:solidFill>
                  <a:srgbClr val="3A3538"/>
                </a:solidFill>
                <a:latin typeface="Menlo"/>
                <a:ea typeface="Menlo"/>
                <a:cs typeface="Menlo"/>
              </a:rPr>
              <a:t>Motif  </a:t>
            </a: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キャラ（ちいかわ / ハチワレ / うさぎ）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1">
                <a:solidFill>
                  <a:srgbClr val="3A3538"/>
                </a:solidFill>
                <a:latin typeface="Menlo"/>
                <a:ea typeface="Menlo"/>
                <a:cs typeface="Menlo"/>
              </a:rPr>
              <a:t>AreaType / AreaName  </a:t>
            </a: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都道府県・市区町村・その他 ／ 静岡・箱根・香港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1">
                <a:solidFill>
                  <a:srgbClr val="3A3538"/>
                </a:solidFill>
                <a:latin typeface="Menlo"/>
                <a:ea typeface="Menlo"/>
                <a:cs typeface="Menlo"/>
              </a:rPr>
              <a:t>Prefecture  </a:t>
            </a: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所属都道府県の正式名（市区町村は親県に集約）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1">
                <a:solidFill>
                  <a:srgbClr val="3A3538"/>
                </a:solidFill>
                <a:latin typeface="Menlo"/>
                <a:ea typeface="Menlo"/>
                <a:cs typeface="Menlo"/>
              </a:rPr>
              <a:t>Tags  </a:t>
            </a: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自動付与（キャラ・地名）＋ 手動編集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1">
                <a:solidFill>
                  <a:srgbClr val="3A3538"/>
                </a:solidFill>
                <a:latin typeface="Menlo"/>
                <a:ea typeface="Menlo"/>
                <a:cs typeface="Menlo"/>
              </a:rPr>
              <a:t>ImageUrl / SourceImageId  </a:t>
            </a: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画像パス ／ 元画像ID（増分用）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1">
                <a:solidFill>
                  <a:srgbClr val="3A3538"/>
                </a:solidFill>
                <a:latin typeface="Menlo"/>
                <a:ea typeface="Menlo"/>
                <a:cs typeface="Menlo"/>
              </a:rPr>
              <a:t>IsVerified / CreatedAt  </a:t>
            </a: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人が確認済みか ／ ISO 8601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00200"/>
            <a:ext cx="381304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310896" tIns="274320"/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6EA8D8"/>
                </a:solidFill>
                <a:latin typeface="Hiragino Kaku Gothic ProN"/>
                <a:ea typeface="Hiragino Kaku Gothic ProN"/>
                <a:cs typeface="Hiragino Kaku Gothic ProN"/>
              </a:rPr>
              <a:t>UserCollection（所持状況）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PK = FamilyID  /  SK = ItemName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3A3538"/>
                </a:solidFill>
                <a:latin typeface="Menlo"/>
                <a:ea typeface="Menlo"/>
                <a:cs typeface="Menlo"/>
              </a:rPr>
              <a:t>FamilyID  </a:t>
            </a: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固定値 "shoiwase"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3A3538"/>
                </a:solidFill>
                <a:latin typeface="Menlo"/>
                <a:ea typeface="Menlo"/>
                <a:cs typeface="Menlo"/>
              </a:rPr>
              <a:t>Status  </a:t>
            </a: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true = 所持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3A3538"/>
                </a:solidFill>
                <a:latin typeface="Menlo"/>
                <a:ea typeface="Menlo"/>
                <a:cs typeface="Menlo"/>
              </a:rPr>
              <a:t>UpdatedAt  </a:t>
            </a: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ISO 8601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4069080"/>
            <a:ext cx="3813048" cy="1691640"/>
          </a:xfrm>
          <a:prstGeom prst="roundRect">
            <a:avLst>
              <a:gd name="adj" fmla="val 8000"/>
            </a:avLst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310896" tIns="256032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1商品 = 最大3エントリ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商品画像に3キャラが並ぶため、キャラごとに別アイテムとして登録する。ItemName はキャラ名から始まる。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地域の判定と集約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AreaType は必ず 3分類のいずれかを返す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95751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都道府県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北海道・静岡 など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5287" y="1600200"/>
            <a:ext cx="3495751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6EA8D8"/>
                </a:solidFill>
                <a:latin typeface="Hiragino Kaku Gothic ProN"/>
                <a:ea typeface="Hiragino Kaku Gothic ProN"/>
                <a:cs typeface="Hiragino Kaku Gothic ProN"/>
              </a:rPr>
              <a:t>市区町村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鎌倉・箱根・市川市 など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4774" y="1600200"/>
            <a:ext cx="3495751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B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E8B94B"/>
                </a:solidFill>
                <a:latin typeface="Hiragino Kaku Gothic ProN"/>
                <a:ea typeface="Hiragino Kaku Gothic ProN"/>
                <a:cs typeface="Hiragino Kaku Gothic ProN"/>
              </a:rPr>
              <a:t>その他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香港・関西・リゾート・不明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判定の優先順位（predict_area）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6440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都道府県名が含まれる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472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「北海道 …」→ 都道府県 / 北海道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1304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3133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海外地名が含まれる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1421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「香港 …」→ その他 / 香港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7997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9826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温泉地・観光地名が含まれる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811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「箱根 …」→ 市区町村 / 箱根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4690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6519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フォールバック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14807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先頭トークンから地名を推測 → 市区町村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788920"/>
            <a:ext cx="5120640" cy="3246120"/>
          </a:xfrm>
          <a:prstGeom prst="roundRect">
            <a:avLst>
              <a:gd name="adj" fmla="val 8000"/>
            </a:avLst>
          </a:prstGeom>
          <a:solidFill>
            <a:srgbClr val="FDF8F2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47472" rIns="347472" tIns="292608"/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都道府県への集約（resolve_prefecture）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各商品は所属 Prefecture（例「千葉県」）を持ち、市区町村は親県に集約される。フィルタで「千葉県」を選ぶと市川市の商品も出る。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1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解決順序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→  モデルが返した prefecture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→  AreaName 自体が県名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→  CITY_TO_PREF ルックアップ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海外・広域は Prefecture 空 ＝「その他」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CI/CD とデプロイ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main への push でパス別に自動デプロイ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10835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109728" cy="96012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5564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terraform/**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E07C99"/>
                </a:solidFill>
                <a:latin typeface="Hiragino Kaku Gothic ProN"/>
                <a:ea typeface="Hiragino Kaku Gothic ProN"/>
                <a:cs typeface="Hiragino Kaku Gothic ProN"/>
              </a:rPr>
              <a:t>deploy-infra.yml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2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terraform apply → DynamoDB / S3 / CloudFront / Cognito / SSM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0048"/>
            <a:ext cx="10835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109728" cy="960120"/>
          </a:xfrm>
          <a:prstGeom prst="rect">
            <a:avLst/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5292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lambda/** ・ template.yaml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6EA8D8"/>
                </a:solidFill>
                <a:latin typeface="Hiragino Kaku Gothic ProN"/>
                <a:ea typeface="Hiragino Kaku Gothic ProN"/>
                <a:cs typeface="Hiragino Kaku Gothic ProN"/>
              </a:rPr>
              <a:t>deploy-sam.yml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7180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Java/Python テスト → sam build → sam deploy → SSM に api-url 書込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67328"/>
            <a:ext cx="10835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67328"/>
            <a:ext cx="109728" cy="960120"/>
          </a:xfrm>
          <a:prstGeom prst="rect">
            <a:avLst/>
          </a:prstGeom>
          <a:solidFill>
            <a:srgbClr val="E8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502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frontend/**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E8B94B"/>
                </a:solidFill>
                <a:latin typeface="Hiragino Kaku Gothic ProN"/>
                <a:ea typeface="Hiragino Kaku Gothic ProN"/>
                <a:cs typeface="Hiragino Kaku Gothic ProN"/>
              </a:rPr>
              <a:t>deploy-frontend.yml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SSM から api-url 取得 → npm run build → S3 sync → CloudFront 無効化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892040"/>
            <a:ext cx="5294376" cy="1325880"/>
          </a:xfrm>
          <a:prstGeom prst="roundRect">
            <a:avLst>
              <a:gd name="adj" fmla="val 8000"/>
            </a:avLst>
          </a:prstGeom>
          <a:solidFill>
            <a:srgbClr val="FDF8F2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310896" tIns="237744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GitHub Secrets は2つだけ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AWS_DEPLOY_ROLE_ARN（OIDC で引き受け）と DOMAIN_NAME のみ。他の設定値は Terraform が SSM に書き、各ワークフローが読む。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4892040"/>
            <a:ext cx="5294376" cy="1325880"/>
          </a:xfrm>
          <a:prstGeom prst="roundRect">
            <a:avLst>
              <a:gd name="adj" fmla="val 8000"/>
            </a:avLst>
          </a:prstGeom>
          <a:solidFill>
            <a:srgbClr val="FDF8F2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310896" tIns="237744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テスト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pytest（scraper / scanner を matrix 並列）・JUnit（API）・Playwright（e2e）。matcher.py は AWS 非依存なので pytest だけで検証できる。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10896"/>
            <a:ext cx="82296" cy="45720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運用メモ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詳細はリポジトリ直下の CLAUDE.md に集約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95751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29184"/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🔐  AWS 権限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アカウントIDは直書きしない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リージョン ap-northeast-1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IAM ユーザー shokun は Lambda 実行・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Bedrock・DynamoDB 書込権限なし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権限が要る操作は bar504-admin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ロールにスイッチしてから実行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3495751" cy="91440"/>
          </a:xfrm>
          <a:prstGeom prst="rect">
            <a:avLst/>
          </a:prstGeom>
          <a:solidFill>
            <a:srgbClr val="E0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5287" y="1600200"/>
            <a:ext cx="3495751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29184"/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🤖  Bedrock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scraper: Claude Haiku 4.5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クロスリージョン推論プロファイル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converse API を使う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（invoke_model は不可）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scanner: Claude Sonnet 4.5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Anthropic モデルは FTU 提出済み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5287" y="1600200"/>
            <a:ext cx="3495751" cy="91440"/>
          </a:xfrm>
          <a:prstGeom prst="rect">
            <a:avLst/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24774" y="1600200"/>
            <a:ext cx="3495751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6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29184"/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🔄  データ洗い替え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1. bar504-admin にスイッチ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2. ChiikawaMaster の KeyChain を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　 全削除（scan → batch delete）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3. chiikawa-scraper を invoke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4. 件数・命名・AreaType・Tags と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　 画像を目視で検証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4774" y="1600200"/>
            <a:ext cx="3495751" cy="91440"/>
          </a:xfrm>
          <a:prstGeom prst="rect">
            <a:avLst/>
          </a:prstGeom>
          <a:solidFill>
            <a:srgbClr val="E8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4956048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D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37744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50" b="1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変更時に必ずセットで直す箇所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・命名規約を変える → lambda/scanner/matcher.py の item_core() と frontend の format.ts の splitItemDisplay()（対のロジック）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3A3538"/>
                </a:solidFill>
                <a:latin typeface="Hiragino Kaku Gothic ProN"/>
                <a:ea typeface="Hiragino Kaku Gothic ProN"/>
                <a:cs typeface="Hiragino Kaku Gothic ProN"/>
              </a:rPr>
              <a:t>・スキャン画像の解像度を上げたい → まずモデルを高解像度対応に変更（Sonnet 4.5 は 1568px 超をダウンサンプルするため MAX_PX=1600 は据え置き）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7C7276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